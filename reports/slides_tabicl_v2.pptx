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25603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CIn . UFPE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286000"/>
            <a:ext cx="4389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Aprendizagem de Maquina</a:t>
            </a:r>
          </a:p>
          <a:p>
            <a:pPr algn="l"/>
            <a:r>
              <a:rPr sz="1400" b="0" i="0">
                <a:solidFill>
                  <a:srgbClr val="FFFFFF"/>
                </a:solidFill>
              </a:rPr>
              <a:t>Pos-Graduacao 2026.1</a:t>
            </a:r>
          </a:p>
          <a:p>
            <a:pPr algn="l"/>
            <a:r>
              <a:rPr sz="14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0" i="0">
                <a:solidFill>
                  <a:srgbClr val="FFFFFF"/>
                </a:solidFill>
              </a:rPr>
              <a:t>Prof. Leandro Almeida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4920" y="1005840"/>
            <a:ext cx="697687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41230"/>
                </a:solidFill>
              </a:rPr>
              <a:t>TabICL v2:</a:t>
            </a:r>
          </a:p>
          <a:p>
            <a:pPr algn="l"/>
            <a:r>
              <a:rPr sz="2800" b="1" i="0">
                <a:solidFill>
                  <a:srgbClr val="C41230"/>
                </a:solidFill>
              </a:rPr>
              <a:t>Foundation Model para</a:t>
            </a:r>
          </a:p>
          <a:p>
            <a:pPr algn="l"/>
            <a:r>
              <a:rPr sz="2800" b="1" i="0">
                <a:solidFill>
                  <a:srgbClr val="C41230"/>
                </a:solidFill>
              </a:rPr>
              <a:t>Dados Tabulares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4920" y="3520440"/>
            <a:ext cx="6976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</a:rPr>
              <a:t>Avaliacao em Benchmark TabArena-v0.1  |  NeurIPS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4297680"/>
            <a:ext cx="697687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Joao Pedro Miranda da Silva    jpms5@cin.ufpe.br</a:t>
            </a:r>
          </a:p>
          <a:p>
            <a:pPr algn="l"/>
            <a:r>
              <a:rPr sz="1300" b="0" i="0">
                <a:solidFill>
                  <a:srgbClr val="1A1A1A"/>
                </a:solidFill>
              </a:rPr>
              <a:t>Maria Clara F. G. Barretto    mcfgb@cin.ufpe.br</a:t>
            </a:r>
          </a:p>
          <a:p>
            <a:pPr algn="l"/>
            <a:r>
              <a:rPr sz="1300" b="0" i="0">
                <a:solidFill>
                  <a:srgbClr val="1A1A1A"/>
                </a:solidFill>
              </a:rPr>
              <a:t>Vinicius Limeira Valenca       vlv3@cin.ufpe.br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0"/>
            <a:ext cx="11000232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4752" y="137160"/>
            <a:ext cx="8202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1230"/>
                </a:solidFill>
              </a:rPr>
              <a:t>Estrutura da Apresentacao (20 min  |  10 + 10)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188720"/>
            <a:ext cx="5317236" cy="26700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1280160"/>
            <a:ext cx="50886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41230"/>
                </a:solidFill>
              </a:rPr>
              <a:t>Etapa 1 — Teoria (10 min)  |  Joao Pedro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00784"/>
            <a:ext cx="5088636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Motivacao e contexto historico</a:t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>Arquitetura e funcionamento interno</a:t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>Forma de aprendizado e representacao</a:t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>Aplicacoes praticas e limitacoes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688836" y="1188720"/>
            <a:ext cx="5317236" cy="26700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25996" y="1280160"/>
            <a:ext cx="50886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41230"/>
                </a:solidFill>
              </a:rPr>
              <a:t>Etapa 2a — Experimentos (5 min)  |  Maria Clara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5996" y="1700784"/>
            <a:ext cx="5088636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30 datasets e 10 sistemas</a:t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>Resultados por metrica (AUC, ACC, G-Mean, CE)</a:t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>Analise por regime (4 eixos)</a:t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>CD Diagram — Friedman-Nemenyi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4005072"/>
            <a:ext cx="5317236" cy="26700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4096512"/>
            <a:ext cx="50886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41230"/>
                </a:solidFill>
              </a:rPr>
              <a:t>Etapa 2b — Analise Estatistica (5 min)  |  Vinicius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517136"/>
            <a:ext cx="5088636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Bayesian Signed-Rank (ROPE = 0.01)</a:t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>Busca de hiperparametros — Optuna TPE</a:t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>Custo vs. Desempenho — Fronteira de Pareto</a:t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>Conclusoes e recomendacoes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88836" y="4005072"/>
            <a:ext cx="5317236" cy="26700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25996" y="4096512"/>
            <a:ext cx="50886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41230"/>
                </a:solidFill>
              </a:rPr>
              <a:t>Reproducibilidade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5996" y="4517136"/>
            <a:ext cx="5088636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pyproject.toml + uv.lock (versoes travadas)</a:t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>seed=42 em split, Optuna e PyTorch</a:t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>Dockerfile para containerizacao</a:t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>Cluster Apuana — RTX 3090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0"/>
            <a:ext cx="11000232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4752" y="137160"/>
            <a:ext cx="8202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1230"/>
                </a:solidFill>
              </a:rPr>
              <a:t>Motivacao e Contexto Historico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82912" y="22860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6B6B6B"/>
                </a:solidFill>
              </a:rPr>
              <a:t>| Joao Pedro</a:t>
            </a:r>
          </a:p>
        </p:txBody>
      </p:sp>
      <p:sp>
        <p:nvSpPr>
          <p:cNvPr id="6" name="Rectangle 5"/>
          <p:cNvSpPr/>
          <p:nvPr/>
        </p:nvSpPr>
        <p:spPr>
          <a:xfrm>
            <a:off x="1508760" y="2103120"/>
            <a:ext cx="10360152" cy="5029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53896" y="2048256"/>
            <a:ext cx="109728" cy="155448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0078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41230"/>
                </a:solidFill>
              </a:rPr>
              <a:t>2016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04288"/>
            <a:ext cx="1316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XGBoost domina</a:t>
            </a:r>
          </a:p>
          <a:p>
            <a:pPr algn="ctr"/>
            <a:r>
              <a:rPr sz="1000" b="0" i="0">
                <a:solidFill>
                  <a:srgbClr val="1A1A1A"/>
                </a:solidFill>
              </a:rPr>
              <a:t>Kaggle e benchmarks</a:t>
            </a:r>
          </a:p>
          <a:p>
            <a:pPr algn="ctr"/>
            <a:r>
              <a:rPr sz="1000" b="0" i="0">
                <a:solidFill>
                  <a:srgbClr val="1A1A1A"/>
                </a:solidFill>
              </a:rPr>
              <a:t>tabulares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43934" y="2048256"/>
            <a:ext cx="109728" cy="155448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5878" y="170078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41230"/>
                </a:solidFill>
              </a:rPr>
              <a:t>2019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0430" y="2304288"/>
            <a:ext cx="1316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AutoML surge:</a:t>
            </a:r>
          </a:p>
          <a:p>
            <a:pPr algn="ctr"/>
            <a:r>
              <a:rPr sz="1000" b="0" i="0">
                <a:solidFill>
                  <a:srgbClr val="1A1A1A"/>
                </a:solidFill>
              </a:rPr>
              <a:t>AutoGluon e H2O</a:t>
            </a:r>
          </a:p>
          <a:p>
            <a:pPr algn="ctr"/>
            <a:r>
              <a:rPr sz="1000" b="0" i="0">
                <a:solidFill>
                  <a:srgbClr val="1A1A1A"/>
                </a:solidFill>
              </a:rPr>
              <a:t>(horas de tuning)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33972" y="2048256"/>
            <a:ext cx="109728" cy="155448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5916" y="170078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41230"/>
                </a:solidFill>
              </a:rPr>
              <a:t>2022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0468" y="2304288"/>
            <a:ext cx="1316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TabPFN:</a:t>
            </a:r>
          </a:p>
          <a:p>
            <a:pPr algn="ctr"/>
            <a:r>
              <a:rPr sz="1000" b="0" i="0">
                <a:solidFill>
                  <a:srgbClr val="1A1A1A"/>
                </a:solidFill>
              </a:rPr>
              <a:t>1o ICL tabular</a:t>
            </a:r>
          </a:p>
          <a:p>
            <a:pPr algn="ctr"/>
            <a:r>
              <a:rPr sz="1000" b="0" i="0">
                <a:solidFill>
                  <a:srgbClr val="1A1A1A"/>
                </a:solidFill>
              </a:rPr>
              <a:t>(n &lt; 3.000)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24010" y="2048256"/>
            <a:ext cx="109728" cy="155448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5954" y="170078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41230"/>
                </a:solidFill>
              </a:rPr>
              <a:t>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0506" y="2304288"/>
            <a:ext cx="1316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TabICL v1:</a:t>
            </a:r>
          </a:p>
          <a:p>
            <a:pPr algn="ctr"/>
            <a:r>
              <a:rPr sz="1000" b="0" i="0">
                <a:solidFill>
                  <a:srgbClr val="1A1A1A"/>
                </a:solidFill>
              </a:rPr>
              <a:t>escala para n &gt; 10K</a:t>
            </a:r>
          </a:p>
          <a:p>
            <a:pPr algn="ctr"/>
            <a:r>
              <a:rPr sz="1000" b="0" i="0">
                <a:solidFill>
                  <a:srgbClr val="1A1A1A"/>
                </a:solidFill>
              </a:rPr>
              <a:t>(ICML 2025)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814048" y="2048256"/>
            <a:ext cx="109728" cy="155448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65992" y="170078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41230"/>
                </a:solidFill>
              </a:rPr>
              <a:t>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10544" y="2304288"/>
            <a:ext cx="13167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TabICL v2:</a:t>
            </a:r>
          </a:p>
          <a:p>
            <a:pPr algn="ctr"/>
            <a:r>
              <a:rPr sz="1000" b="0" i="0">
                <a:solidFill>
                  <a:srgbClr val="1A1A1A"/>
                </a:solidFill>
              </a:rPr>
              <a:t>multiclasse + ensemble</a:t>
            </a:r>
          </a:p>
          <a:p>
            <a:pPr algn="ctr"/>
            <a:r>
              <a:rPr sz="1000" b="0" i="0">
                <a:solidFill>
                  <a:srgbClr val="1A1A1A"/>
                </a:solidFill>
              </a:rPr>
              <a:t>(este trabalho)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44752" y="3337560"/>
            <a:ext cx="10488168" cy="91440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81912" y="3429000"/>
            <a:ext cx="102138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0000"/>
                </a:solidFill>
              </a:rPr>
              <a:t>Problema central: GBDTs exigem feature engineering, pipelines complexos e horas de Optuna. Foundation Models aprendem o algoritmo no pre-treino; na inferencia apenas atencao cruzada contra os dados de treino — sem gradient descent, sem fine-tuning, sem feature engineering.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4361688"/>
            <a:ext cx="104881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41230"/>
                </a:solidFill>
              </a:rPr>
              <a:t>=&gt; GBDTs ainda lideram em Large e dados com NaN nativo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90872"/>
            <a:ext cx="10488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XGBoost/LightGBM/CatBoost: particao nativa de missing, velocidade de inferencia em CPU.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5111496"/>
            <a:ext cx="104881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41230"/>
                </a:solidFill>
              </a:rPr>
              <a:t>=&gt; TabICL v2 preenche a lacuna para Medium e Multiclasse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440680"/>
            <a:ext cx="10488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AUC equivalente ao AutoGluon Extreme 4h com 38x menos tempo (48s vs 1831s por dataset).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0"/>
            <a:ext cx="11000232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4752" y="137160"/>
            <a:ext cx="8202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1230"/>
                </a:solidFill>
              </a:rPr>
              <a:t>Arquitetura: Visao Geral do TabICL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82912" y="22860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6B6B6B"/>
                </a:solidFill>
              </a:rPr>
              <a:t>| Joao Pedro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1371600"/>
            <a:ext cx="1508760" cy="65836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6192" y="1444752"/>
            <a:ext cx="136245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</a:rPr>
              <a:t>Dados de</a:t>
            </a:r>
          </a:p>
          <a:p>
            <a:pPr algn="ctr"/>
            <a:r>
              <a:rPr sz="1100" b="1" i="0">
                <a:solidFill>
                  <a:srgbClr val="1A1A1A"/>
                </a:solidFill>
              </a:rPr>
              <a:t>Treino</a:t>
            </a:r>
          </a:p>
          <a:p>
            <a:pPr algn="ctr"/>
            <a:r>
              <a:rPr sz="1100" b="1" i="0">
                <a:solidFill>
                  <a:srgbClr val="1A1A1A"/>
                </a:solidFill>
              </a:rPr>
              <a:t>(N amostras)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609344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B6B6B"/>
                </a:solidFill>
              </a:rPr>
              <a:t>-&gt;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3182112" y="1371600"/>
            <a:ext cx="1508760" cy="65836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55264" y="1444752"/>
            <a:ext cx="136245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</a:rPr>
              <a:t>Embedding</a:t>
            </a:r>
          </a:p>
          <a:p>
            <a:pPr algn="ctr"/>
            <a:r>
              <a:rPr sz="1100" b="1" i="0">
                <a:solidFill>
                  <a:srgbClr val="1A1A1A"/>
                </a:solidFill>
              </a:rPr>
              <a:t>Linear / Vocab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1609344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B6B6B"/>
                </a:solidFill>
              </a:rPr>
              <a:t>-&gt;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01183" y="1371600"/>
            <a:ext cx="1508760" cy="65836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74335" y="1444752"/>
            <a:ext cx="136245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</a:rPr>
              <a:t>Transformer</a:t>
            </a:r>
          </a:p>
          <a:p>
            <a:pPr algn="ctr"/>
            <a:r>
              <a:rPr sz="1100" b="1" i="0">
                <a:solidFill>
                  <a:srgbClr val="1A1A1A"/>
                </a:solidFill>
              </a:rPr>
              <a:t>Encoder</a:t>
            </a:r>
          </a:p>
          <a:p>
            <a:pPr algn="ctr"/>
            <a:r>
              <a:rPr sz="1100" b="1" i="0">
                <a:solidFill>
                  <a:srgbClr val="1A1A1A"/>
                </a:solidFill>
              </a:rPr>
              <a:t>(K, V)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3" y="1609344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B6B6B"/>
                </a:solidFill>
              </a:rPr>
              <a:t>-&gt;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0256" y="1371600"/>
            <a:ext cx="1508760" cy="658368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3408" y="1444752"/>
            <a:ext cx="136245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Atencao</a:t>
            </a:r>
          </a:p>
          <a:p>
            <a:pPr algn="ctr"/>
            <a:r>
              <a:rPr sz="1100" b="1" i="0">
                <a:solidFill>
                  <a:srgbClr val="FFFFFF"/>
                </a:solidFill>
              </a:rPr>
              <a:t>Cruzada</a:t>
            </a:r>
          </a:p>
          <a:p>
            <a:pPr algn="ctr"/>
            <a:r>
              <a:rPr sz="1100" b="1" i="0">
                <a:solidFill>
                  <a:srgbClr val="FFFFFF"/>
                </a:solidFill>
              </a:rPr>
              <a:t>(Q = teste)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6" y="1609344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B6B6B"/>
                </a:solidFill>
              </a:rPr>
              <a:t>-&gt;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39328" y="1371600"/>
            <a:ext cx="1508760" cy="65836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444752"/>
            <a:ext cx="136245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</a:rPr>
              <a:t>Softmax</a:t>
            </a:r>
          </a:p>
          <a:p>
            <a:pPr algn="ctr"/>
            <a:r>
              <a:rPr sz="1100" b="1" i="0">
                <a:solidFill>
                  <a:srgbClr val="1A1A1A"/>
                </a:solidFill>
              </a:rPr>
              <a:t>(C classes)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48088" y="1609344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B6B6B"/>
                </a:solidFill>
              </a:rPr>
              <a:t>-&gt;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0" y="1371600"/>
            <a:ext cx="1508760" cy="65836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31552" y="1444752"/>
            <a:ext cx="136245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</a:rPr>
              <a:t>Predicao</a:t>
            </a:r>
          </a:p>
          <a:p>
            <a:pPr algn="ctr"/>
            <a:r>
              <a:rPr sz="1100" b="1" i="0">
                <a:solidFill>
                  <a:srgbClr val="1A1A1A"/>
                </a:solidFill>
              </a:rPr>
              <a:t>(proba.)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67160" y="1609344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B6B6B"/>
                </a:solidFill>
              </a:rPr>
              <a:t>-&gt;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44752" y="2167128"/>
            <a:ext cx="10488168" cy="2743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4752" y="2212848"/>
            <a:ext cx="10488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</a:rPr>
              <a:t>Amostra de Teste:  Q = Embedding(x_test)  --  nenhum parametro atualizado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0" y="2651760"/>
            <a:ext cx="2658618" cy="182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2743200"/>
            <a:ext cx="24757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41230"/>
                </a:solidFill>
              </a:rPr>
              <a:t>27M parametros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182112"/>
            <a:ext cx="247573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pre-treinado em tabelas</a:t>
            </a:r>
          </a:p>
          <a:p>
            <a:pPr algn="ctr"/>
            <a:r>
              <a:rPr sz="1100" b="0" i="0">
                <a:solidFill>
                  <a:srgbClr val="1A1A1A"/>
                </a:solidFill>
              </a:rPr>
              <a:t>sinteticas (priores</a:t>
            </a:r>
          </a:p>
          <a:p>
            <a:pPr algn="ctr"/>
            <a:r>
              <a:rPr sz="1100" b="0" i="0">
                <a:solidFill>
                  <a:srgbClr val="1A1A1A"/>
                </a:solidFill>
              </a:rPr>
              <a:t>Bayesianos)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02786" y="2651760"/>
            <a:ext cx="2658618" cy="182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94226" y="2743200"/>
            <a:ext cx="24757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41230"/>
                </a:solidFill>
              </a:rPr>
              <a:t>Interface sklearn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94226" y="3182112"/>
            <a:ext cx="247573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fit(X_train, y_train)</a:t>
            </a:r>
          </a:p>
          <a:p>
            <a:pPr algn="ctr"/>
            <a:r>
              <a:rPr sz="1100" b="0" i="0">
                <a:solidFill>
                  <a:srgbClr val="1A1A1A"/>
                </a:solidFill>
              </a:rPr>
              <a:t>predict_proba(X_test)</a:t>
            </a:r>
          </a:p>
          <a:p>
            <a:pPr algn="ctr"/>
            <a:r>
              <a:rPr sz="1100" b="0" i="0">
                <a:solidFill>
                  <a:srgbClr val="1A1A1A"/>
                </a:solidFill>
              </a:rPr>
              <a:t>zero config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25412" y="2651760"/>
            <a:ext cx="2658618" cy="182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16852" y="2743200"/>
            <a:ext cx="24757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41230"/>
                </a:solidFill>
              </a:rPr>
              <a:t>Apache 2.0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6852" y="3182112"/>
            <a:ext cx="247573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uso comercial e</a:t>
            </a:r>
          </a:p>
          <a:p>
            <a:pPr algn="ctr"/>
            <a:r>
              <a:rPr sz="1100" b="0" i="0">
                <a:solidFill>
                  <a:srgbClr val="1A1A1A"/>
                </a:solidFill>
              </a:rPr>
              <a:t>academico sem</a:t>
            </a:r>
          </a:p>
          <a:p>
            <a:pPr algn="ctr"/>
            <a:r>
              <a:rPr sz="1100" b="0" i="0">
                <a:solidFill>
                  <a:srgbClr val="1A1A1A"/>
                </a:solidFill>
              </a:rPr>
              <a:t>restricoes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48038" y="2651760"/>
            <a:ext cx="2658618" cy="182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39478" y="2743200"/>
            <a:ext cx="247573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41230"/>
                </a:solidFill>
              </a:rPr>
              <a:t>Ensemble ICL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9478" y="3182112"/>
            <a:ext cx="247573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n_estimators contextos</a:t>
            </a:r>
          </a:p>
          <a:p>
            <a:pPr algn="ctr"/>
            <a:r>
              <a:rPr sz="1100" b="0" i="0">
                <a:solidFill>
                  <a:srgbClr val="1A1A1A"/>
                </a:solidFill>
              </a:rPr>
              <a:t>combinados por media</a:t>
            </a:r>
          </a:p>
          <a:p>
            <a:pPr algn="ctr"/>
            <a:r>
              <a:rPr sz="1100" b="0" i="0">
                <a:solidFill>
                  <a:srgbClr val="1A1A1A"/>
                </a:solidFill>
              </a:rPr>
              <a:t>de logits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0"/>
            <a:ext cx="11000232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4752" y="137160"/>
            <a:ext cx="8202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1230"/>
                </a:solidFill>
              </a:rPr>
              <a:t>Funcionamento Interno: Atencao Cruzada e Formulacao Matematica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82912" y="22860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6B6B6B"/>
                </a:solidFill>
              </a:rPr>
              <a:t>| Joao Pedro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4752" y="1188720"/>
            <a:ext cx="10488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O mecanismo central: cada amostra de teste (query Q) consulta todo o conjunto de treino (chave K e valor V) via atencao cruzada. Nenhum gradiente e calculado.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1444752" y="1737360"/>
            <a:ext cx="10488168" cy="86868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10512" y="1847088"/>
            <a:ext cx="97566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B0000"/>
                </a:solidFill>
              </a:rPr>
              <a:t>Attention(Q, K, V)  =  softmax( Q K^T / sqrt(d) ) . 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" y="2724912"/>
            <a:ext cx="2240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41230"/>
                </a:solidFill>
              </a:rPr>
              <a:t>Q  in  R^(1 x 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67912" y="2724912"/>
            <a:ext cx="79278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-- embedding da amostra de TESTE (query)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3072384"/>
            <a:ext cx="2240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41230"/>
                </a:solidFill>
              </a:rPr>
              <a:t>K, V  in  R^(N x 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7912" y="3072384"/>
            <a:ext cx="79278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-- embeddings das N amostras de TREINO (contexto)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3419856"/>
            <a:ext cx="2240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41230"/>
                </a:solidFill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67912" y="3419856"/>
            <a:ext cx="79278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-- dimensao do embedding (hidden dim do Transformer)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67328"/>
            <a:ext cx="2240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41230"/>
                </a:solidFill>
              </a:rPr>
              <a:t>C logits -&gt; Softmax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3767328"/>
            <a:ext cx="79278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-- saida projetada para C classes via camada linear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44752" y="4187952"/>
            <a:ext cx="10488168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81912" y="4261104"/>
            <a:ext cx="102138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Ensemble de contextos:  logits_final = mean( logits_1, ..., logits_M )  com M = n_estimators sub-conjuntos aleatorios do treino  -&gt;  equivale a bagging por ICL sem re-treinamento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0"/>
            <a:ext cx="11000232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4752" y="137160"/>
            <a:ext cx="8202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1230"/>
                </a:solidFill>
              </a:rPr>
              <a:t>Forma de Aprendizado e Representacao dos Padroes nos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82912" y="22860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6B6B6B"/>
                </a:solidFill>
              </a:rPr>
              <a:t>| Joao Pedro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4752" y="1188720"/>
            <a:ext cx="10488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1230"/>
                </a:solidFill>
              </a:rPr>
              <a:t>O TabICL v2 aprende de forma INDIRETA: no pre-treinamento (offline), nao na inferencia.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1444752" y="1627632"/>
            <a:ext cx="5152644" cy="5138928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719072"/>
            <a:ext cx="49331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41230"/>
                </a:solidFill>
              </a:rPr>
              <a:t>PRE-TREINAMENTO (offline, uma vez)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157984"/>
            <a:ext cx="4933188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Tabelas sinteticas geradas por priores Bayesianos</a:t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>Milhoes de tarefas de classificacao artificiais</a:t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>Objetivo: minimizar cross-entropy (gradient descent)</a:t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>Resultado: 27M pesos que codificam 'como aprender'</a:t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>Representacao aprendida:</a:t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>  features numericas -&gt; embedding linear</a:t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>  features categoricas -&gt; embedding de vocabulario</a:t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>  labels -&gt; embedding de classe</a:t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>  N amostras de treino -&gt; sequencia de tokens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25996" y="1627632"/>
            <a:ext cx="5152644" cy="51389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35724" y="1719072"/>
            <a:ext cx="49331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41230"/>
                </a:solidFill>
              </a:rPr>
              <a:t>INFERENCIA (online, por query)</a:t>
            </a:r>
          </a:p>
          <a:p>
            <a:pPr algn="l"/>
            <a:r>
              <a:rPr sz="1300" b="1" i="0">
                <a:solidFill>
                  <a:srgbClr val="C41230"/>
                </a:solidFill>
              </a:rPr>
              <a:t>fit(X_train, y_train):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5724" y="2157984"/>
            <a:ext cx="4933188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  -&gt; tokeniza N amostras de treino</a:t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>  -&gt; armazena K, V no contexto</a:t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>predict_proba(X_test):</a:t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>  -&gt; tokeniza x_test (= query Q)</a:t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>  -&gt; calcula Attention(Q, K, V)</a:t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>  -&gt; projeta em C logits -&gt; Softmax</a:t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>Complexidade: O(N.d) por amostra de teste</a:t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>Total N testes: O(N^2 . p)  &lt;- gargalo</a:t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>Nenhum parametro e atualizado.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0"/>
            <a:ext cx="11000232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4752" y="137160"/>
            <a:ext cx="8202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1230"/>
                </a:solidFill>
              </a:rPr>
              <a:t>Complexidade Computacional e Escalabilidade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82912" y="22860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6B6B6B"/>
                </a:solidFill>
              </a:rPr>
              <a:t>| Joao Pedro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444752" y="1207008"/>
          <a:ext cx="1048816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7633"/>
                <a:gridCol w="2097633"/>
                <a:gridCol w="2097633"/>
                <a:gridCol w="2097633"/>
                <a:gridCol w="2097633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Modelo</a:t>
                      </a:r>
                    </a:p>
                  </a:txBody>
                  <a:tcPr>
                    <a:solidFill>
                      <a:srgbClr val="C4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Treino</a:t>
                      </a:r>
                    </a:p>
                  </a:txBody>
                  <a:tcPr>
                    <a:solidFill>
                      <a:srgbClr val="C4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Inferencia (1 amostra)</a:t>
                      </a:r>
                    </a:p>
                  </a:txBody>
                  <a:tcPr>
                    <a:solidFill>
                      <a:srgbClr val="C4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Memoria GPU</a:t>
                      </a:r>
                    </a:p>
                  </a:txBody>
                  <a:tcPr>
                    <a:solidFill>
                      <a:srgbClr val="C4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Large (n&gt;50K)</a:t>
                      </a:r>
                    </a:p>
                  </a:txBody>
                  <a:tcPr>
                    <a:solidFill>
                      <a:srgbClr val="C4123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41230"/>
                          </a:solidFill>
                        </a:rPr>
                        <a:t>TabICL 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O(1)*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O(N.d) -&gt; O(N^2.p)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4-24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OOM sem offload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LightGBM TD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O(N.p.log N)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O(p . profundidade)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CPU (MB)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Excelente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AutoGluon 4h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horas de ensemble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variavel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alta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Escala bem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444752" y="2761488"/>
            <a:ext cx="10488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41230"/>
                </a:solidFill>
              </a:rPr>
              <a:t>O(N^2 . p) -- gargalo da inferencia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3099816"/>
            <a:ext cx="104881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Para N amostras de treino e N de teste: calcula Q K^T em R^(N x N). Aceitavel em Small/Medium (N &lt; 10K, tempo &lt; 60s). Critico em Large.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3694176"/>
            <a:ext cx="10488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41230"/>
                </a:solidFill>
              </a:rPr>
              <a:t>Mitigacoes implementadas (cluster Apuana, RTX 3090 24 GB)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4032504"/>
            <a:ext cx="104881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Query-Aware Scalable Softmax + offload_mode='disk' (chunked inference). Script: experiments/cluster/job_apuana.slurm.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4626864"/>
            <a:ext cx="10488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41230"/>
                </a:solidFill>
              </a:rPr>
              <a:t>302x mais rapido que AutoGluon Extreme 4h [exigido pelo enunciado]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4965192"/>
            <a:ext cx="104881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TabICL: 48.5s / dataset. AG Extreme 4h (spec): 14.612s (~4h) / dataset. AG Extreme ~30min (extra): 1831s. Custo quadratico aceitavel para n &lt; 20K em GPU.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0"/>
            <a:ext cx="11000232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4752" y="137160"/>
            <a:ext cx="8202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1230"/>
                </a:solidFill>
              </a:rPr>
              <a:t>Hiperparametros Principais do TabICL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82912" y="22860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6B6B6B"/>
                </a:solidFill>
              </a:rPr>
              <a:t>| Joao Pedro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4752" y="1188720"/>
            <a:ext cx="10488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6B6B"/>
                </a:solidFill>
              </a:rPr>
              <a:t>Espaco de busca definido em experiments/tabicl_tuning.py. Experimento principal rodou com defaults — tuning opcional.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44752" y="1554480"/>
          <a:ext cx="10488168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2042"/>
                <a:gridCol w="2622042"/>
                <a:gridCol w="2622042"/>
                <a:gridCol w="2622042"/>
              </a:tblGrid>
              <a:tr h="476794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Hiperparametro</a:t>
                      </a:r>
                    </a:p>
                  </a:txBody>
                  <a:tcPr>
                    <a:solidFill>
                      <a:srgbClr val="C4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Padrao</a:t>
                      </a:r>
                    </a:p>
                  </a:txBody>
                  <a:tcPr>
                    <a:solidFill>
                      <a:srgbClr val="C4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Busca Optuna</a:t>
                      </a:r>
                    </a:p>
                  </a:txBody>
                  <a:tcPr>
                    <a:solidFill>
                      <a:srgbClr val="C4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Efeito principal</a:t>
                      </a:r>
                    </a:p>
                  </a:txBody>
                  <a:tcPr>
                    <a:solidFill>
                      <a:srgbClr val="C41230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n_estimators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[4, 32]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tamanho ensemble; mais = estavel, mas custo linear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softmax_temperature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0.9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[0.3, 1.5]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calibracao: baixo = confiante; alto = distribuicao suave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outlier_threshold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[2.0, 8.0]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clipping de features em multiplos de sigma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norm_methods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z-score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categorico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z-score / quantile / robusto para embeddings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average_logits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True/False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combinacao do ensemble: media (True) ou log-sum-exp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6796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offload_mode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None / 'disk'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disk = chunked inference para Large (evita OOM)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444752" y="5010912"/>
            <a:ext cx="10488168" cy="62179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81912" y="5084064"/>
            <a:ext cx="102138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</a:rPr>
              <a:t>Resultado pratico: o modelo opera de forma competitiva com os defaults dos autores. O espaco Optuna esta definido mas nao foi executado para TabICL no experimento final (limitacao de tempo no cluster HPC Apuana).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0"/>
            <a:ext cx="11000232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4752" y="137160"/>
            <a:ext cx="8202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1230"/>
                </a:solidFill>
              </a:rPr>
              <a:t>Aplicacoes Praticas e Limitacoes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82912" y="22860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6B6B6B"/>
                </a:solidFill>
              </a:rPr>
              <a:t>| Joao Pedro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4752" y="1188720"/>
            <a:ext cx="5134356" cy="55778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280160"/>
            <a:ext cx="49697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41230"/>
                </a:solidFill>
              </a:rPr>
              <a:t>QUANDO USAR o TabICL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1737360"/>
            <a:ext cx="48326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Regime Medium (1K-10K)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993392"/>
            <a:ext cx="46954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melhor AUC: 0.9425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258567"/>
            <a:ext cx="48326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Classificacao Multiclasse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2514599"/>
            <a:ext cx="46954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lider: 0.9585 vs AutoGluon 0.9606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2779774"/>
            <a:ext cx="48326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Features numericas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4792" y="3035806"/>
            <a:ext cx="46954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AUC 0.9221 (equiv. ao SOTA)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3300981"/>
            <a:ext cx="48326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Prototipagem rapida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3557013"/>
            <a:ext cx="46954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48s/dataset, zero feature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3822188"/>
            <a:ext cx="48326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GPU disponivel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4792" y="4078220"/>
            <a:ext cx="46954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RTX 3090 suficiente para Medium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7632" y="4343395"/>
            <a:ext cx="483260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Sem NaN ou com imputacao previa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4599427"/>
            <a:ext cx="46954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AUC 0.9221 sem NaN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98564" y="1188720"/>
            <a:ext cx="5134356" cy="557784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8292" y="1280160"/>
            <a:ext cx="48600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41230"/>
                </a:solidFill>
              </a:rPr>
              <a:t>LIMITACOES documentadas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1444" y="1737360"/>
            <a:ext cx="47228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0000"/>
                </a:solidFill>
              </a:rPr>
              <a:t>Large sem GPU &gt;= 24 GB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8604" y="1993392"/>
            <a:ext cx="45857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OOM: n&gt;50K, p&gt;500 sem offload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1444" y="2258567"/>
            <a:ext cx="47228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0000"/>
                </a:solidFill>
              </a:rPr>
              <a:t>Dados com NaN nativos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8604" y="2514599"/>
            <a:ext cx="45857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0.854 vs CatBoost TD 0.872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1444" y="2779774"/>
            <a:ext cx="47228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0000"/>
                </a:solidFill>
              </a:rPr>
              <a:t>Features categoricas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8604" y="3035806"/>
            <a:ext cx="45857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CatBoost Tuned supera (0.872 vs 0.864)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1444" y="3300981"/>
            <a:ext cx="47228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0000"/>
                </a:solidFill>
              </a:rPr>
              <a:t>Binario em Large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3557013"/>
            <a:ext cx="45857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0.856 -- GBDTs Tuned sao superiores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1444" y="3822188"/>
            <a:ext cx="47228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0000"/>
                </a:solidFill>
              </a:rPr>
              <a:t>Interpretabilidade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8604" y="4078220"/>
            <a:ext cx="45857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caixa-preta sem SHAP nativo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1444" y="4343395"/>
            <a:ext cx="47228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0000"/>
                </a:solidFill>
              </a:rPr>
              <a:t>Tuning nao executado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8604" y="4599427"/>
            <a:ext cx="45857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defaults usados no experimento final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0"/>
            <a:ext cx="1100023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" y="3401568"/>
            <a:ext cx="11000232" cy="4572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417320"/>
            <a:ext cx="1008583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41230"/>
                </a:solidFill>
              </a:rPr>
              <a:t>Etapa 2:</a:t>
            </a:r>
          </a:p>
          <a:p>
            <a:pPr algn="ctr"/>
            <a:r>
              <a:rPr sz="3400" b="1" i="0">
                <a:solidFill>
                  <a:srgbClr val="C41230"/>
                </a:solidFill>
              </a:rPr>
              <a:t>Estudo Experimental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977639"/>
            <a:ext cx="100858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6B6B6B"/>
                </a:solidFill>
              </a:rPr>
              <a:t>30 datasets  |  10 sistemas  |  4 metricas  |  validacao frequentista e bayesiana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4956048"/>
            <a:ext cx="100858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6B6B"/>
                </a:solidFill>
              </a:rPr>
              <a:t>Maria Clara (slides 11-15)    Vinicius (slides 16-20)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0"/>
            <a:ext cx="11000232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4752" y="137160"/>
            <a:ext cx="8202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1230"/>
                </a:solidFill>
              </a:rPr>
              <a:t>Configuracao do Experimento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82912" y="22860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6B6B6B"/>
                </a:solidFill>
              </a:rPr>
              <a:t>| Maria Clara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4752" y="1188720"/>
            <a:ext cx="10488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6B6B"/>
                </a:solidFill>
              </a:rPr>
              <a:t>Protocolo Demsar (2006) + Benavoli et al. (2017) conforme especificacao do projeto.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44752" y="1554480"/>
          <a:ext cx="10488168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4084"/>
                <a:gridCol w="5244084"/>
              </a:tblGrid>
              <a:tr h="493776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Aspecto</a:t>
                      </a:r>
                    </a:p>
                  </a:txBody>
                  <a:tcPr>
                    <a:solidFill>
                      <a:srgbClr val="C4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Configuracao</a:t>
                      </a:r>
                    </a:p>
                  </a:txBody>
                  <a:tcPr>
                    <a:solidFill>
                      <a:srgbClr val="C41230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Datasets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30 datasets TabArena-v0.1 (NeurIPS 2025) via OpenML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Distribuicao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3 Small (n&lt;1K) + 17 Medium (1K-10K) + 10 Large (&gt;10K)*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Split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70% treino / 30% teste, estratificado, seed=42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Baselines TD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LightGBM, XGBoost, CatBoost (defaults pytabkit meta-aprendidos)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Baselines Tuned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LightGBM, XGBoost, CatBoost (Optuna TPE, 20 trials, max 2h)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AutoML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AutoGluon Default  +  AutoGluon Extreme 4h [EXIGIDO PELO ENUNCIADO]  +  AG Extreme ~30min [extra]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Metricas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AUC-OVO (macro), Accuracy, G-Mean, Cross-Entropy, Tempo (s)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Analise estatist.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Friedman + Nemenyi (autorank) + Bayesian ROPE=0.01 (baycomp)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Infraestrutura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GPU RTX 3090 (Large); CPU local (Small/Medium); seed=42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444752" y="6547104"/>
            <a:ext cx="10488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</a:rPr>
              <a:t>* Desvio da especificacao 10+10+10: TabArena-v0.1 tem oferta limitada de Small (n&lt;1K) apos filtragem de qualidade (IID, licenca CC0).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0"/>
            <a:ext cx="11000232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4752" y="137160"/>
            <a:ext cx="8202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1230"/>
                </a:solidFill>
              </a:rPr>
              <a:t>30 Datasets e AUC-OVO por Sistema (media geral)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82912" y="22860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6B6B6B"/>
                </a:solidFill>
              </a:rPr>
              <a:t>| Maria Clara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207008"/>
            <a:ext cx="52715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41230"/>
                </a:solidFill>
              </a:rPr>
              <a:t>Estratificacao dos 30 datasets: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80160" y="1572768"/>
          <a:ext cx="525322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645"/>
                <a:gridCol w="1050645"/>
                <a:gridCol w="1050645"/>
                <a:gridCol w="1050645"/>
                <a:gridCol w="1050645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Regime</a:t>
                      </a:r>
                    </a:p>
                  </a:txBody>
                  <a:tcPr>
                    <a:solidFill>
                      <a:srgbClr val="C4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C4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Binarios</a:t>
                      </a:r>
                    </a:p>
                  </a:txBody>
                  <a:tcPr>
                    <a:solidFill>
                      <a:srgbClr val="C4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Multiclasse</a:t>
                      </a:r>
                    </a:p>
                  </a:txBody>
                  <a:tcPr>
                    <a:solidFill>
                      <a:srgbClr val="C4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Com NaN</a:t>
                      </a:r>
                    </a:p>
                  </a:txBody>
                  <a:tcPr>
                    <a:solidFill>
                      <a:srgbClr val="C41230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Small (n&lt;1K)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Medium (1K-10K)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Large (&gt;10K)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80160" y="3310128"/>
            <a:ext cx="52715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</a:rPr>
              <a:t>4 eixos analisados: tamanho, classes, tipo de feature, dados faltantes.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6576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1230"/>
                </a:solidFill>
              </a:rPr>
              <a:t>Multiclasse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3657600"/>
            <a:ext cx="39913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TabICL: 0.9585  &gt;  AG 4h [spec]: 0.9606  (2o lugar)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96849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1230"/>
                </a:solidFill>
              </a:rPr>
              <a:t>Binario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3968496"/>
            <a:ext cx="39913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AG 4h [spec]: 0.8592  &gt;  TabICL: 0.8562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7939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1230"/>
                </a:solidFill>
              </a:rPr>
              <a:t>Sem NaN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4279392"/>
            <a:ext cx="39913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TabICL: 0.9221  ~  AG 4h [spec]: 0.9221  (identicos)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5902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1230"/>
                </a:solidFill>
              </a:rPr>
              <a:t>Com NaN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4590288"/>
            <a:ext cx="39913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CatBoost TD: 0.8720  &gt;  TabICL: 0.8539  (perde)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90118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1230"/>
                </a:solidFill>
              </a:rPr>
              <a:t>Small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4901184"/>
            <a:ext cx="39913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AG 4h [spec]: 0.8628  &gt;  TabICL: 0.8056  (alta variancia)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2120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1230"/>
                </a:solidFill>
              </a:rP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5212080"/>
            <a:ext cx="39913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TabICL: 0.9425  ~  AG 4h [spec]: 0.9453  (diff = 0.003)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52297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1230"/>
                </a:solidFill>
              </a:rPr>
              <a:t>Large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5522976"/>
            <a:ext cx="39913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AG 4h [spec]: 0.8639  ~  TabICL: 0.8629  (diff = 0.001)</a:t>
            </a:r>
          </a:p>
        </p:txBody>
      </p:sp>
      <p:pic>
        <p:nvPicPr>
          <p:cNvPr id="23" name="Picture 22" descr="bar_auc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56" y="1170432"/>
            <a:ext cx="5271516" cy="55961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0"/>
            <a:ext cx="11000232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4752" y="137160"/>
            <a:ext cx="8202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1230"/>
                </a:solidFill>
              </a:rPr>
              <a:t>Resultados por Metrica: AUC-OVO, Accuracy e G-Mean (30 datasets)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82912" y="22860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6B6B6B"/>
                </a:solidFill>
              </a:rPr>
              <a:t>| Maria Clara</a:t>
            </a:r>
          </a:p>
        </p:txBody>
      </p:sp>
      <p:pic>
        <p:nvPicPr>
          <p:cNvPr id="6" name="Picture 5" descr="bar_4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1170432"/>
            <a:ext cx="10853928" cy="5376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44752" y="6565392"/>
            <a:ext cx="10488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</a:rPr>
              <a:t>TabICL lider em G-Mean (0.679 &gt; todos). AutoGluon Extreme lidera em AUC e Accuracy (diff &lt; 0.005). Cross-Entropy completa no relatorio (Apendice B).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0"/>
            <a:ext cx="11000232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4752" y="137160"/>
            <a:ext cx="8202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1230"/>
                </a:solidFill>
              </a:rPr>
              <a:t>Analise por Regime: os 4 Eixos de Caracterizacao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82912" y="22860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6B6B6B"/>
                </a:solidFill>
              </a:rPr>
              <a:t>| Maria Clara</a:t>
            </a:r>
          </a:p>
        </p:txBody>
      </p:sp>
      <p:pic>
        <p:nvPicPr>
          <p:cNvPr id="6" name="Picture 5" descr="bar_eix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1170432"/>
            <a:ext cx="10853928" cy="3657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444752" y="4892040"/>
            <a:ext cx="10488168" cy="77724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81912" y="4983480"/>
            <a:ext cx="102138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0000"/>
                </a:solidFill>
              </a:rPr>
              <a:t>Insight: TabICL equivale ao AG Extreme 4h [EXIGIDO PELO ENUNCIADO] em Medium (diff=0.003) e em datasets sem NaN (identicos: 0.9221). Lidera em Multiclasse (0.9585 vs 0.9606). Fraqueza em NaN nativos e Small — alta variancia por N reduzido.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0"/>
            <a:ext cx="11000232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4752" y="137160"/>
            <a:ext cx="8202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1230"/>
                </a:solidFill>
              </a:rPr>
              <a:t>Friedman-Nemenyi: CD Diagrams para as 4 Metricas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82912" y="22860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6B6B6B"/>
                </a:solidFill>
              </a:rPr>
              <a:t>| Maria Clara</a:t>
            </a:r>
          </a:p>
        </p:txBody>
      </p:sp>
      <p:pic>
        <p:nvPicPr>
          <p:cNvPr id="6" name="Picture 5" descr="cd_diagram_auc_o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170432"/>
            <a:ext cx="5317236" cy="25831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0160" y="3799332"/>
            <a:ext cx="53172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41230"/>
                </a:solidFill>
              </a:rPr>
              <a:t>AUC-OVO</a:t>
            </a:r>
          </a:p>
        </p:txBody>
      </p:sp>
      <p:pic>
        <p:nvPicPr>
          <p:cNvPr id="8" name="Picture 7" descr="cd_diagram_a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836" y="1170432"/>
            <a:ext cx="5317236" cy="25831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88836" y="3799332"/>
            <a:ext cx="53172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41230"/>
                </a:solidFill>
              </a:rPr>
              <a:t>Accuracy</a:t>
            </a:r>
          </a:p>
        </p:txBody>
      </p:sp>
      <p:pic>
        <p:nvPicPr>
          <p:cNvPr id="10" name="Picture 9" descr="cd_diagram_g_m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3936492"/>
            <a:ext cx="5317236" cy="25831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80160" y="6565392"/>
            <a:ext cx="53172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41230"/>
                </a:solidFill>
              </a:rPr>
              <a:t>G-Mean</a:t>
            </a:r>
          </a:p>
        </p:txBody>
      </p:sp>
      <p:pic>
        <p:nvPicPr>
          <p:cNvPr id="12" name="Picture 11" descr="cd_diagram_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8836" y="3936492"/>
            <a:ext cx="5317236" cy="25831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88836" y="6565392"/>
            <a:ext cx="53172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41230"/>
                </a:solidFill>
              </a:rPr>
              <a:t>Cross-Entropy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6583680"/>
            <a:ext cx="10488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</a:rPr>
              <a:t>Barra horizontal: clique de equivalencia estatistica (p &gt; 0.05, Bonferroni-Dunn). TabICL e AutoGluon Extreme no mesmo clique em AUC e Accuracy.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0"/>
            <a:ext cx="11000232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4752" y="137160"/>
            <a:ext cx="8202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1230"/>
                </a:solidFill>
              </a:rPr>
              <a:t>Analise Bayesiana: Bayesian Signed-Rank com ROPE = 0.01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82912" y="22860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6B6B6B"/>
                </a:solidFill>
              </a:rPr>
              <a:t>| Vinicius</a:t>
            </a:r>
          </a:p>
        </p:txBody>
      </p:sp>
      <p:pic>
        <p:nvPicPr>
          <p:cNvPr id="6" name="Picture 5" descr="bayesian_plot_auc_lightgbm_tu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170432"/>
            <a:ext cx="5317236" cy="3977639"/>
          </a:xfrm>
          <a:prstGeom prst="rect">
            <a:avLst/>
          </a:prstGeom>
        </p:spPr>
      </p:pic>
      <p:pic>
        <p:nvPicPr>
          <p:cNvPr id="7" name="Picture 6" descr="bayesian_plot_auc_autogluon_extreme_4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836" y="1170432"/>
            <a:ext cx="5317236" cy="39776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80160" y="5184647"/>
            <a:ext cx="53172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TabICL vs LightGBM Tuned</a:t>
            </a:r>
          </a:p>
          <a:p>
            <a:pPr algn="ctr"/>
            <a:r>
              <a:rPr sz="1100" b="0" i="0">
                <a:solidFill>
                  <a:srgbClr val="1A1A1A"/>
                </a:solidFill>
              </a:rPr>
              <a:t>P(equiv.) = 83.1%  |  P(TabICL &gt;) = 16.8%</a:t>
            </a:r>
          </a:p>
          <a:p>
            <a:pPr algn="ctr"/>
            <a:r>
              <a:rPr sz="1100" b="0" i="0">
                <a:solidFill>
                  <a:srgbClr val="1A1A1A"/>
                </a:solidFill>
              </a:rPr>
              <a:t>Frequentemente equivalentes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88836" y="5184647"/>
            <a:ext cx="53172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41230"/>
                </a:solidFill>
              </a:rPr>
              <a:t>TabICL vs AutoGluon Extreme 4h [EXIGIDO PELO ENUNCIADO]</a:t>
            </a:r>
          </a:p>
          <a:p>
            <a:pPr algn="ctr"/>
            <a:r>
              <a:rPr sz="1100" b="1" i="0">
                <a:solidFill>
                  <a:srgbClr val="C41230"/>
                </a:solidFill>
              </a:rPr>
              <a:t>P(equiv.) = 99.6%  &lt;-- resultado definitivo</a:t>
            </a:r>
          </a:p>
          <a:p>
            <a:pPr algn="ctr"/>
            <a:r>
              <a:rPr sz="1100" b="1" i="0">
                <a:solidFill>
                  <a:srgbClr val="C41230"/>
                </a:solidFill>
              </a:rPr>
              <a:t>Indistinguiveis em AUC  |  TabICL 302x mais rapido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0"/>
            <a:ext cx="11000232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4752" y="137160"/>
            <a:ext cx="8202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1230"/>
                </a:solidFill>
              </a:rPr>
              <a:t>Busca de Hiperparametros: Optuna TPE (GBDTs Tuned, 20 trials)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82912" y="22860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6B6B6B"/>
                </a:solidFill>
              </a:rPr>
              <a:t>| Vinicius</a:t>
            </a:r>
          </a:p>
        </p:txBody>
      </p:sp>
      <p:pic>
        <p:nvPicPr>
          <p:cNvPr id="6" name="Picture 5" descr="optuna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170432"/>
            <a:ext cx="5317236" cy="2834640"/>
          </a:xfrm>
          <a:prstGeom prst="rect">
            <a:avLst/>
          </a:prstGeom>
        </p:spPr>
      </p:pic>
      <p:pic>
        <p:nvPicPr>
          <p:cNvPr id="7" name="Picture 6" descr="optuna_importan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836" y="1170432"/>
            <a:ext cx="5317236" cy="2834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80160" y="4023360"/>
            <a:ext cx="53172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</a:rPr>
              <a:t>Convergencia do objetivo (AUC-OVO)</a:t>
            </a:r>
          </a:p>
          <a:p>
            <a:pPr algn="ctr"/>
            <a:r>
              <a:rPr sz="1000" b="0" i="0">
                <a:solidFill>
                  <a:srgbClr val="6B6B6B"/>
                </a:solidFill>
              </a:rPr>
              <a:t>LightGBM, XGBoost, CatBoost — 20 trials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88836" y="4023360"/>
            <a:ext cx="53172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</a:rPr>
              <a:t>Importancia de HPs (fANOVA)</a:t>
            </a:r>
          </a:p>
          <a:p>
            <a:pPr algn="ctr"/>
            <a:r>
              <a:rPr sz="1000" b="0" i="0">
                <a:solidFill>
                  <a:srgbClr val="6B6B6B"/>
                </a:solidFill>
              </a:rPr>
              <a:t>learning_rate e n_estimators: &gt;60% da variancia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4434840"/>
            <a:ext cx="10488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41230"/>
                </a:solidFill>
              </a:rPr>
              <a:t>Espacos de busca (Apendice C)  |  TPESampler(seed=42)  |  max 2h / dataset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444752" y="4764024"/>
          <a:ext cx="10488168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4084"/>
                <a:gridCol w="5244084"/>
              </a:tblGrid>
              <a:tr h="35433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Modelo</a:t>
                      </a:r>
                    </a:p>
                  </a:txBody>
                  <a:tcPr>
                    <a:solidFill>
                      <a:srgbClr val="C4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Hiperparametros buscados</a:t>
                      </a:r>
                    </a:p>
                  </a:txBody>
                  <a:tcPr>
                    <a:solidFill>
                      <a:srgbClr val="C41230"/>
                    </a:solidFill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LightGBM Tuned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n_estimators [100-2K], learning_rate [1e-4, 0.3 log], num_leaves [15-300], subsample [0.5-1.0]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XGBoost Tuned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n_estimators [100-2K], learning_rate [1e-4, 0.3 log], max_depth [3-12], colsample_bytree [0.5-1.0]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CatBoost Tuned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iterations [100-2K], learning_rate [1e-4, 0.3 log], depth [4-10], l2_leaf_reg [1-10 log]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0"/>
            <a:ext cx="11000232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4752" y="137160"/>
            <a:ext cx="8202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1230"/>
                </a:solidFill>
              </a:rPr>
              <a:t>Custo vs. Desempenho: Fronteira de Pareto e Recomendacoes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82912" y="22860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6B6B6B"/>
                </a:solidFill>
              </a:rPr>
              <a:t>| Vinicius</a:t>
            </a:r>
          </a:p>
        </p:txBody>
      </p:sp>
      <p:pic>
        <p:nvPicPr>
          <p:cNvPr id="6" name="Picture 5" descr="scatter_cost_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4" y="1152144"/>
            <a:ext cx="5408676" cy="561441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61988" y="1188720"/>
            <a:ext cx="5335524" cy="1755648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71716" y="1271016"/>
            <a:ext cx="51160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41230"/>
                </a:solidFill>
              </a:rPr>
              <a:t>Cenario A — Maxima qualidade  [EXIGIDO PELO ENUNCIADO]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1716" y="1673352"/>
            <a:ext cx="511606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AutoGluon Extreme 4h  (preset extreme, time_limit=4h/dataset)</a:t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>AUC 0.9099  |  14.612s (~4h) / dataset</a:t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>Critico: saude, fraude, credito.</a:t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>Referencia primaria de comparacao do projeto.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1988" y="3035808"/>
            <a:ext cx="5335524" cy="17556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71716" y="3118104"/>
            <a:ext cx="51160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41230"/>
                </a:solidFill>
              </a:rPr>
              <a:t>Cenario B — Sweet spot (recomendado)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1716" y="3520440"/>
            <a:ext cx="511606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TabICL v2</a:t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>AUC 0.9056  |  48.5s / dataset</a:t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>Na inflexao da fronteira de Pareto.</a:t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>302x mais rapido que AG Extreme 4h [spec].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1988" y="4882896"/>
            <a:ext cx="5335524" cy="17556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71716" y="4965192"/>
            <a:ext cx="51160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41230"/>
                </a:solidFill>
              </a:rPr>
              <a:t>Cenario C — Latencia em CPU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1716" y="5367528"/>
            <a:ext cx="511606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CatBoost TD</a:t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>AUC 0.8972  |  14s / dataset</a:t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>Inferencia em ms, sem GPU.</a:t>
            </a:r>
          </a:p>
          <a:p>
            <a:pPr algn="l"/>
            <a:r>
              <a:rPr sz="1100" b="0" i="0">
                <a:solidFill>
                  <a:srgbClr val="1A1A1A"/>
                </a:solidFill>
              </a:rPr>
              <a:t>Natural para NaN e categoricas.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0"/>
            <a:ext cx="11000232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4752" y="137160"/>
            <a:ext cx="8202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1230"/>
                </a:solidFill>
              </a:rPr>
              <a:t>Conclusoes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82912" y="22860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6B6B6B"/>
                </a:solidFill>
              </a:rPr>
              <a:t>| Vinicius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4752" y="1188720"/>
            <a:ext cx="10488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41230"/>
                </a:solidFill>
              </a:rPr>
              <a:t>ICL puro equivale ao AutoGluon Extreme 4h [exigido] com 302x menos tempo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1563624"/>
            <a:ext cx="10396728" cy="140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Bayesian Signed-Rank P(equiv.) = 99.6% com ROPE = 0.01 (baycomp). AutoGluon Extreme 4h: exigido explicitamente pelo enunciado (preset extreme, time_limit=4h/dataset). TabICL 48.5s vs 14.612s (4h) por dataset. G-Mean 0.679 — melhor entre todos os 10 sistemas.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3048000"/>
            <a:ext cx="10488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41230"/>
                </a:solidFill>
              </a:rPr>
              <a:t>Lideranca em Multiclasse e equivalencia em Medium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3422904"/>
            <a:ext cx="10396728" cy="140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AUC 0.9585 em Multiclasse — melhor sistema individual, supera todos os GBDTs. Rank 3 em AUC-OVO geral (30 datasets). Diff &lt; 0.002 vs SOTA em Medium. Hiperparametros default ja competitivos — tuning adiciona ganho marginal.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4907280"/>
            <a:ext cx="10488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41230"/>
                </a:solidFill>
              </a:rPr>
              <a:t>Limitacoes claras e recomendacoes objetivas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5282184"/>
            <a:ext cx="10396728" cy="140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Fraqueza em NaN nativos (imputacao mediana &lt; particionamento dos GBDTs). OOM em Large sem GPU &gt;= 24 GB. Recomendacao: TabICL para Medium/Multiclasse com GPU; CatBoost TD para NaN+CPU; AutoGluon 4h para qualidade maxima absoluta.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015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Muito obrigado!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61488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FFFFFF"/>
                </a:solidFill>
              </a:rPr>
              <a:t>Perguntas?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611880"/>
            <a:ext cx="88971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Joao Pedro Miranda da Silva   |   jpms5@cin.ufpe.br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4160520"/>
            <a:ext cx="88971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Maria Clara F. G. Barretto   |   mcfgb@cin.ufpe.br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4709160"/>
            <a:ext cx="88971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Vinicius Limeira Valenca   |   vlv3@cin.ufpe.br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07024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</a:rPr>
              <a:t>github.com/jpmsilva1/Projeto_AM_Leandro_TabICL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